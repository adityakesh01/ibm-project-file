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3ABF05C-B15D-4BFC-AAD1-F22131D2FAE6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938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368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448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909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71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10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142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84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533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58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434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6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70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18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458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987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20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A608E5-DC31-46EF-8AC9-FA00FC63CD6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30A12D-318A-4AB4-95D8-6E4E87FA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close-up of a computer">
            <a:extLst>
              <a:ext uri="{FF2B5EF4-FFF2-40B4-BE49-F238E27FC236}">
                <a16:creationId xmlns:a16="http://schemas.microsoft.com/office/drawing/2014/main" id="{13C26A43-3115-144D-A393-59647C13D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22" y="0"/>
            <a:ext cx="12310444" cy="6885421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F587C8D-5F5C-33FB-4A1C-ACD2F71B3010}"/>
              </a:ext>
            </a:extLst>
          </p:cNvPr>
          <p:cNvSpPr/>
          <p:nvPr/>
        </p:nvSpPr>
        <p:spPr>
          <a:xfrm>
            <a:off x="212002" y="875605"/>
            <a:ext cx="1081383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structures  </a:t>
            </a:r>
            <a:r>
              <a:rPr lang="en-US" sz="7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python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4DD09A2-5747-6E95-2C6A-A1F4E51D7789}"/>
              </a:ext>
            </a:extLst>
          </p:cNvPr>
          <p:cNvSpPr/>
          <p:nvPr/>
        </p:nvSpPr>
        <p:spPr>
          <a:xfrm>
            <a:off x="8029213" y="4534742"/>
            <a:ext cx="5993242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Aditya </a:t>
            </a:r>
            <a:r>
              <a:rPr lang="en-US" sz="28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Kesharwani</a:t>
            </a:r>
            <a:endParaRPr lang="en-U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Harsh Patel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Anupam Singh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Ankit Tiwari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 Ojha </a:t>
            </a:r>
          </a:p>
        </p:txBody>
      </p:sp>
      <p:pic>
        <p:nvPicPr>
          <p:cNvPr id="187" name="Picture 186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DEF06B6A-C493-1B05-78D0-92F317E3C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834" y="1151484"/>
            <a:ext cx="743925" cy="74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16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63F24A-F652-460E-C84B-94F8F7279BBA}"/>
              </a:ext>
            </a:extLst>
          </p:cNvPr>
          <p:cNvSpPr/>
          <p:nvPr/>
        </p:nvSpPr>
        <p:spPr>
          <a:xfrm>
            <a:off x="3242251" y="265698"/>
            <a:ext cx="602644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6000" b="1" dirty="0"/>
              <a:t>INTRODUCTION</a:t>
            </a:r>
            <a:endParaRPr lang="en-US" sz="6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027710-F79F-794F-8C21-215021A8DB57}"/>
              </a:ext>
            </a:extLst>
          </p:cNvPr>
          <p:cNvSpPr/>
          <p:nvPr/>
        </p:nvSpPr>
        <p:spPr>
          <a:xfrm>
            <a:off x="1226866" y="1818814"/>
            <a:ext cx="1033822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dirty="0"/>
              <a:t>• A data structure is a way of storing and organizing data.</a:t>
            </a:r>
          </a:p>
          <a:p>
            <a:r>
              <a:rPr lang="en-US" sz="3600" dirty="0"/>
              <a:t>• Helps in efficient data access and processing.</a:t>
            </a:r>
          </a:p>
          <a:p>
            <a:r>
              <a:rPr lang="en-US" sz="3600" dirty="0"/>
              <a:t>• Essential for writing optimized programs.</a:t>
            </a:r>
          </a:p>
        </p:txBody>
      </p:sp>
    </p:spTree>
    <p:extLst>
      <p:ext uri="{BB962C8B-B14F-4D97-AF65-F5344CB8AC3E}">
        <p14:creationId xmlns:p14="http://schemas.microsoft.com/office/powerpoint/2010/main" val="1356162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212A18-BD91-8B36-2AB7-1AC7B9B06FB6}"/>
              </a:ext>
            </a:extLst>
          </p:cNvPr>
          <p:cNvSpPr/>
          <p:nvPr/>
        </p:nvSpPr>
        <p:spPr>
          <a:xfrm>
            <a:off x="1842939" y="161789"/>
            <a:ext cx="846456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/>
              <a:t>Why Learn </a:t>
            </a:r>
            <a:r>
              <a:rPr lang="en-IN" sz="6000" b="1" dirty="0"/>
              <a:t>Data</a:t>
            </a:r>
            <a:r>
              <a:rPr lang="en-IN" sz="5400" b="1" dirty="0"/>
              <a:t> Structures?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09673-2B44-ECA6-C273-3CDA5DFD3F45}"/>
              </a:ext>
            </a:extLst>
          </p:cNvPr>
          <p:cNvSpPr/>
          <p:nvPr/>
        </p:nvSpPr>
        <p:spPr>
          <a:xfrm>
            <a:off x="1176271" y="1598520"/>
            <a:ext cx="10920112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dirty="0"/>
              <a:t>• Improves problem‑solving skills</a:t>
            </a:r>
          </a:p>
          <a:p>
            <a:r>
              <a:rPr lang="en-US" sz="3600" dirty="0"/>
              <a:t>• Makes programs faster and more efficient</a:t>
            </a:r>
          </a:p>
          <a:p>
            <a:r>
              <a:rPr lang="en-US" sz="3600" dirty="0"/>
              <a:t>• Forms the foundation for advanced computer science topics</a:t>
            </a:r>
          </a:p>
          <a:p>
            <a:r>
              <a:rPr lang="en-US" sz="3600" dirty="0"/>
              <a:t>• Widely used in placement and competitive coding</a:t>
            </a:r>
          </a:p>
        </p:txBody>
      </p:sp>
    </p:spTree>
    <p:extLst>
      <p:ext uri="{BB962C8B-B14F-4D97-AF65-F5344CB8AC3E}">
        <p14:creationId xmlns:p14="http://schemas.microsoft.com/office/powerpoint/2010/main" val="712019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6E4728-6F33-2DA2-0F3B-3025B153C496}"/>
              </a:ext>
            </a:extLst>
          </p:cNvPr>
          <p:cNvSpPr/>
          <p:nvPr/>
        </p:nvSpPr>
        <p:spPr>
          <a:xfrm>
            <a:off x="2103177" y="255309"/>
            <a:ext cx="798564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6000" b="1" dirty="0"/>
              <a:t>Types of Data Structures</a:t>
            </a:r>
            <a:endParaRPr lang="en-US" sz="6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87409-1A89-D8C4-BC74-19F3B3B3362C}"/>
              </a:ext>
            </a:extLst>
          </p:cNvPr>
          <p:cNvSpPr/>
          <p:nvPr/>
        </p:nvSpPr>
        <p:spPr>
          <a:xfrm>
            <a:off x="1237253" y="1710034"/>
            <a:ext cx="935108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/>
              <a:t>1</a:t>
            </a:r>
            <a:r>
              <a:rPr lang="en-US" sz="3600" dirty="0"/>
              <a:t>. **Linear Data Structures**</a:t>
            </a:r>
          </a:p>
          <a:p>
            <a:r>
              <a:rPr lang="en-US" sz="3600" dirty="0"/>
              <a:t>   - Array, List, Stack, Queue</a:t>
            </a:r>
          </a:p>
          <a:p>
            <a:r>
              <a:rPr lang="en-US" sz="3600" b="1" dirty="0"/>
              <a:t>2</a:t>
            </a:r>
            <a:r>
              <a:rPr lang="en-US" sz="3600" dirty="0"/>
              <a:t>. **Non‑Linear Data Structures**</a:t>
            </a:r>
          </a:p>
          <a:p>
            <a:r>
              <a:rPr lang="en-US" sz="3600" dirty="0"/>
              <a:t>   - Tree, Graph</a:t>
            </a:r>
          </a:p>
        </p:txBody>
      </p:sp>
    </p:spTree>
    <p:extLst>
      <p:ext uri="{BB962C8B-B14F-4D97-AF65-F5344CB8AC3E}">
        <p14:creationId xmlns:p14="http://schemas.microsoft.com/office/powerpoint/2010/main" val="68661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14563E-28C5-9E5E-3687-3C48E7560155}"/>
              </a:ext>
            </a:extLst>
          </p:cNvPr>
          <p:cNvSpPr/>
          <p:nvPr/>
        </p:nvSpPr>
        <p:spPr>
          <a:xfrm>
            <a:off x="3151780" y="151399"/>
            <a:ext cx="522341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6000" b="1" dirty="0"/>
              <a:t>Arrays and Lists</a:t>
            </a:r>
            <a:endParaRPr lang="en-US" sz="6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CAEA1-8E0D-C33C-8D48-31EC7CDF2D9D}"/>
              </a:ext>
            </a:extLst>
          </p:cNvPr>
          <p:cNvSpPr/>
          <p:nvPr/>
        </p:nvSpPr>
        <p:spPr>
          <a:xfrm>
            <a:off x="1258764" y="1675893"/>
            <a:ext cx="9458371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dirty="0"/>
              <a:t>• Stores multiple items in a single variable</a:t>
            </a:r>
          </a:p>
          <a:p>
            <a:r>
              <a:rPr lang="en-US" sz="3600" dirty="0"/>
              <a:t>• </a:t>
            </a:r>
            <a:r>
              <a:rPr lang="en-US" sz="3200" dirty="0"/>
              <a:t>Supports</a:t>
            </a:r>
            <a:r>
              <a:rPr lang="en-US" sz="3600" dirty="0"/>
              <a:t> indexing</a:t>
            </a:r>
          </a:p>
          <a:p>
            <a:r>
              <a:rPr lang="en-US" sz="3600" dirty="0"/>
              <a:t>• Python uses Lists (dynamic arrays)</a:t>
            </a:r>
          </a:p>
          <a:p>
            <a:r>
              <a:rPr lang="en-US" sz="3600" dirty="0"/>
              <a:t>Example: </a:t>
            </a:r>
            <a:r>
              <a:rPr lang="en-US" sz="3600" dirty="0" err="1"/>
              <a:t>my_list</a:t>
            </a:r>
            <a:r>
              <a:rPr lang="en-US" sz="3600" dirty="0"/>
              <a:t> = [10, 20, 30]</a:t>
            </a:r>
          </a:p>
        </p:txBody>
      </p:sp>
    </p:spTree>
    <p:extLst>
      <p:ext uri="{BB962C8B-B14F-4D97-AF65-F5344CB8AC3E}">
        <p14:creationId xmlns:p14="http://schemas.microsoft.com/office/powerpoint/2010/main" val="3905890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E021D2-4AB6-1C14-9B19-386C2C18E346}"/>
              </a:ext>
            </a:extLst>
          </p:cNvPr>
          <p:cNvSpPr/>
          <p:nvPr/>
        </p:nvSpPr>
        <p:spPr>
          <a:xfrm>
            <a:off x="4720606" y="0"/>
            <a:ext cx="187795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6000" b="1" dirty="0"/>
              <a:t>Stack</a:t>
            </a:r>
            <a:endParaRPr lang="en-US" sz="6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3470D-151D-9A71-FE81-CF0B1BFEB473}"/>
              </a:ext>
            </a:extLst>
          </p:cNvPr>
          <p:cNvSpPr/>
          <p:nvPr/>
        </p:nvSpPr>
        <p:spPr>
          <a:xfrm>
            <a:off x="1296799" y="973583"/>
            <a:ext cx="7243265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buNone/>
            </a:pPr>
            <a:r>
              <a:rPr lang="en-US" sz="2800" dirty="0"/>
              <a:t>• Follows LIFO (Last In First Out)</a:t>
            </a:r>
          </a:p>
          <a:p>
            <a:pPr>
              <a:buNone/>
            </a:pPr>
            <a:r>
              <a:rPr lang="en-US" sz="2800" dirty="0"/>
              <a:t>• Operations:</a:t>
            </a:r>
          </a:p>
          <a:p>
            <a:pPr>
              <a:buNone/>
            </a:pPr>
            <a:r>
              <a:rPr lang="en-US" sz="2800" dirty="0"/>
              <a:t>   - push(): Add item</a:t>
            </a:r>
          </a:p>
          <a:p>
            <a:pPr>
              <a:buNone/>
            </a:pPr>
            <a:r>
              <a:rPr lang="en-US" sz="2800" dirty="0"/>
              <a:t>   - pop(): Remove item</a:t>
            </a:r>
          </a:p>
          <a:p>
            <a:pPr>
              <a:buNone/>
            </a:pPr>
            <a:r>
              <a:rPr lang="en-US" sz="2800" dirty="0"/>
              <a:t>• Examples: Undo operations, browser history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ACAE13-8BFA-2F07-0FB1-E28EF6F8A975}"/>
              </a:ext>
            </a:extLst>
          </p:cNvPr>
          <p:cNvSpPr/>
          <p:nvPr/>
        </p:nvSpPr>
        <p:spPr>
          <a:xfrm>
            <a:off x="4606703" y="3252353"/>
            <a:ext cx="23551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/>
              <a:t>Queue</a:t>
            </a:r>
            <a:endParaRPr lang="en-US" sz="6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9A7C1-BBA0-3D29-2EC6-D6B2F6458C18}"/>
              </a:ext>
            </a:extLst>
          </p:cNvPr>
          <p:cNvSpPr/>
          <p:nvPr/>
        </p:nvSpPr>
        <p:spPr>
          <a:xfrm>
            <a:off x="1392417" y="4193935"/>
            <a:ext cx="8298939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lvl="8"/>
            <a:r>
              <a:rPr lang="en-US" sz="2800" dirty="0"/>
              <a:t>• Follows FIFO (First In First Out)</a:t>
            </a:r>
          </a:p>
          <a:p>
            <a:r>
              <a:rPr lang="en-US" sz="2800" dirty="0"/>
              <a:t>• Operations:</a:t>
            </a:r>
          </a:p>
          <a:p>
            <a:r>
              <a:rPr lang="en-US" sz="2800" dirty="0"/>
              <a:t>   - enqueue(): Add item</a:t>
            </a:r>
          </a:p>
          <a:p>
            <a:r>
              <a:rPr lang="en-US" sz="2800" dirty="0"/>
              <a:t>   - dequeue(): Remove item</a:t>
            </a:r>
          </a:p>
          <a:p>
            <a:r>
              <a:rPr lang="en-US" sz="2800" dirty="0"/>
              <a:t>• Examples: Ticket booking systems, task scheduling</a:t>
            </a:r>
          </a:p>
        </p:txBody>
      </p:sp>
    </p:spTree>
    <p:extLst>
      <p:ext uri="{BB962C8B-B14F-4D97-AF65-F5344CB8AC3E}">
        <p14:creationId xmlns:p14="http://schemas.microsoft.com/office/powerpoint/2010/main" val="1353599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9D639F-A7D3-053F-5F2B-E3DDEECAC6DF}"/>
              </a:ext>
            </a:extLst>
          </p:cNvPr>
          <p:cNvSpPr/>
          <p:nvPr/>
        </p:nvSpPr>
        <p:spPr>
          <a:xfrm>
            <a:off x="4792426" y="136404"/>
            <a:ext cx="156805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6000" b="1" dirty="0"/>
              <a:t>Tree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F9A99-7022-0473-851D-8FEA8AF60AAC}"/>
              </a:ext>
            </a:extLst>
          </p:cNvPr>
          <p:cNvSpPr/>
          <p:nvPr/>
        </p:nvSpPr>
        <p:spPr>
          <a:xfrm>
            <a:off x="1275461" y="1152067"/>
            <a:ext cx="5767156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lvl="8" indent="-342900">
              <a:buNone/>
            </a:pPr>
            <a:r>
              <a:rPr lang="en-US" sz="2800" dirty="0"/>
              <a:t>• Hierarchical structure</a:t>
            </a:r>
          </a:p>
          <a:p>
            <a:pPr>
              <a:buNone/>
            </a:pPr>
            <a:r>
              <a:rPr lang="en-US" sz="2800" dirty="0"/>
              <a:t>• Contains root and child nodes</a:t>
            </a:r>
          </a:p>
          <a:p>
            <a:pPr>
              <a:buNone/>
            </a:pPr>
            <a:r>
              <a:rPr lang="en-US" sz="2800" dirty="0"/>
              <a:t>• Examples: File explorer, family 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C9AC5-F86E-1B60-0CC4-416DE54F25D0}"/>
              </a:ext>
            </a:extLst>
          </p:cNvPr>
          <p:cNvSpPr/>
          <p:nvPr/>
        </p:nvSpPr>
        <p:spPr>
          <a:xfrm>
            <a:off x="4110292" y="2904990"/>
            <a:ext cx="29323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/>
              <a:t>Graph</a:t>
            </a:r>
            <a:r>
              <a:rPr lang="en-US" sz="5400" dirty="0"/>
              <a:t>    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2EED49-044F-F8A7-524C-2AC5AF37FF6D}"/>
              </a:ext>
            </a:extLst>
          </p:cNvPr>
          <p:cNvSpPr/>
          <p:nvPr/>
        </p:nvSpPr>
        <p:spPr>
          <a:xfrm>
            <a:off x="1275461" y="4073137"/>
            <a:ext cx="828682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dirty="0"/>
              <a:t>• Set of nodes (vertices) connected by edges</a:t>
            </a:r>
          </a:p>
          <a:p>
            <a:r>
              <a:rPr lang="en-US" sz="2800" dirty="0"/>
              <a:t>• Used in maps, networks, social media connections</a:t>
            </a:r>
          </a:p>
        </p:txBody>
      </p:sp>
    </p:spTree>
    <p:extLst>
      <p:ext uri="{BB962C8B-B14F-4D97-AF65-F5344CB8AC3E}">
        <p14:creationId xmlns:p14="http://schemas.microsoft.com/office/powerpoint/2010/main" val="1119922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97F4AF-6898-3717-8B19-FFDB0141F7BB}"/>
              </a:ext>
            </a:extLst>
          </p:cNvPr>
          <p:cNvSpPr/>
          <p:nvPr/>
        </p:nvSpPr>
        <p:spPr>
          <a:xfrm>
            <a:off x="3980452" y="107177"/>
            <a:ext cx="323377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N" sz="6000" b="1" dirty="0"/>
              <a:t>Summary</a:t>
            </a:r>
            <a:endParaRPr lang="en-US" sz="5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473860-2057-1960-F688-D82B22335F49}"/>
              </a:ext>
            </a:extLst>
          </p:cNvPr>
          <p:cNvSpPr/>
          <p:nvPr/>
        </p:nvSpPr>
        <p:spPr>
          <a:xfrm>
            <a:off x="1207444" y="1498029"/>
            <a:ext cx="11107148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dirty="0"/>
              <a:t>• Data structures help organize and manage data efficiently.</a:t>
            </a:r>
          </a:p>
          <a:p>
            <a:r>
              <a:rPr lang="en-US" sz="3600" dirty="0"/>
              <a:t>• Important types: List, Stack, Queue, Tree, Graph.</a:t>
            </a:r>
          </a:p>
          <a:p>
            <a:r>
              <a:rPr lang="en-US" sz="3600" dirty="0"/>
              <a:t>• Foundation for advanced programming and problem solving.</a:t>
            </a:r>
          </a:p>
        </p:txBody>
      </p:sp>
    </p:spTree>
    <p:extLst>
      <p:ext uri="{BB962C8B-B14F-4D97-AF65-F5344CB8AC3E}">
        <p14:creationId xmlns:p14="http://schemas.microsoft.com/office/powerpoint/2010/main" val="3492480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BAC157-4EA6-D3D3-D03F-5B700A0226B2}"/>
              </a:ext>
            </a:extLst>
          </p:cNvPr>
          <p:cNvSpPr/>
          <p:nvPr/>
        </p:nvSpPr>
        <p:spPr>
          <a:xfrm>
            <a:off x="2972001" y="2141988"/>
            <a:ext cx="7138354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90506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64</TotalTime>
  <Words>290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Ojha</dc:creator>
  <cp:lastModifiedBy>Dev Ojha</cp:lastModifiedBy>
  <cp:revision>1</cp:revision>
  <dcterms:created xsi:type="dcterms:W3CDTF">2025-12-03T08:59:25Z</dcterms:created>
  <dcterms:modified xsi:type="dcterms:W3CDTF">2025-12-03T10:04:24Z</dcterms:modified>
</cp:coreProperties>
</file>